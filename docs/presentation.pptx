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반도체 파운드리 운영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90AACC"/>
                </a:solidFill>
              </a:rPr>
              <a:t>Semiconductor Foundry Operations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3154680"/>
            <a:ext cx="4507992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AI 기반 생산·품질·매출 통합 분석 플랫폼  |  기존 시스템 연동 실운영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4069080"/>
            <a:ext cx="118872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10565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Vue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5416" y="4069080"/>
            <a:ext cx="173736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5416" y="4105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Spring Boot 3.2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9936" y="4069080"/>
            <a:ext cx="173736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9936" y="4105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PostgreSQL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34456" y="4069080"/>
            <a:ext cx="22860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34456" y="41056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Anthropic Claude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4069080"/>
            <a:ext cx="146304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41056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Java 21 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57816" y="4069080"/>
            <a:ext cx="13716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7816" y="41056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pgvector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78899"/>
                </a:solidFill>
              </a:rPr>
              <a:t>2026년 7월  |  개발팀  |  Ver 2.1  (RAG 문서 검색 확장 포함)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594360" cy="65836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2527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프로젝트 배경 및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83664"/>
            <a:ext cx="594360" cy="65836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75104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883664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0391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시스템 아키텍처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70048"/>
            <a:ext cx="594360" cy="6583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761488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670048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8254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기존 시스템 연동 전략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56432"/>
            <a:ext cx="59436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54787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456432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611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기술 스택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242816"/>
            <a:ext cx="594360" cy="658368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334255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242816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39826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PostgreSQL 스키마 설계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029200"/>
            <a:ext cx="594360" cy="658368"/>
          </a:xfrm>
          <a:prstGeom prst="rect">
            <a:avLst/>
          </a:prstGeom>
          <a:solidFill>
            <a:srgbClr val="1B6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120640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5029200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1846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PostgreSQL 설치 및 권한 설정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815584"/>
            <a:ext cx="594360" cy="658368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907024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815584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9710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AI 파이프라인 &amp; 보안 가드레일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097280"/>
            <a:ext cx="594360" cy="65836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1188720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1097280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12527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프론트엔드 &amp; REST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1883664"/>
            <a:ext cx="594360" cy="65836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1975104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1883664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20391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보안 가이드라인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670048"/>
            <a:ext cx="594360" cy="6583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2761488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2670048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86600" y="282549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배포 가이드 (Nginx / systemd)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3456432"/>
            <a:ext cx="59436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354787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3456432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3611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주요 KPI 및 성과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4242816"/>
            <a:ext cx="594360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334255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4242816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86600" y="439826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RAG 문서 검색 확장 (신규)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5029200"/>
            <a:ext cx="594360" cy="658368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5120640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9440" y="5029200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51846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향후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프로젝트 배경 및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Background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544068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현재 문제점 (Pain Points)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27632"/>
            <a:ext cx="544068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19072"/>
            <a:ext cx="5166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▪  생산·품질·매출 데이터가 MES/ERP/LIMS에 분산</a:t>
            </a:r>
          </a:p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▪  데이터 조회 시 SQL 전문가 개입 필요 → 의사결정 지연</a:t>
            </a:r>
          </a:p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▪  실시간 수율·불량 현황 즉시 파악 불가</a:t>
            </a:r>
          </a:p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▪  임원 리포트를 수동으로 취합 → 주 1회 업데이트 한계</a:t>
            </a:r>
          </a:p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▪  비개발자는 데이터 직접 분석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70432"/>
            <a:ext cx="5897880" cy="457200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59" y="12344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기대 효과 (Expected Outcomes)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627632"/>
            <a:ext cx="589788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719072"/>
            <a:ext cx="5623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✓  단일 대시보드에서 KPI 실시간 조회</a:t>
            </a:r>
          </a:p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✓  AI 자연어 질의 → 누구나 데이터 분석 가능</a:t>
            </a:r>
          </a:p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✓  SQL 가드레일 → DB 보안 유지</a:t>
            </a:r>
          </a:p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✓  수율/불량 시각화 → 품질 이슈 즉시 감지</a:t>
            </a:r>
          </a:p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✓  기존 MES/ERP 연동 → 별도 데이터 입력 불필요</a:t>
            </a:r>
          </a:p>
          <a:p>
            <a:pPr>
              <a:spcBef>
                <a:spcPts val="1058"/>
              </a:spcBef>
            </a:pPr>
            <a:r>
              <a:rPr sz="1300">
                <a:solidFill>
                  <a:srgbClr val="1A1A2E"/>
                </a:solidFill>
              </a:rPr>
              <a:t>✓  향후 로컬 LLM 전환 → 데이터 완전 내부 보관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시스템 아키텍처 (실운영 구성)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Production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40312" cy="658368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Nginx 리버스 프록시  |  /  → Vue 정적 파일  |  /api/*  → Spring Boot :8080  |  SSL/TLS 종단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3520440" cy="5669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933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677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Vue 3 SPA
(Nginx 정적 서빙)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32888"/>
            <a:ext cx="35204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KPI Cards ×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358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Chart.js 차트 ×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655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AI 채팅(출처 표시)+문서관리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953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📎 업로드 버튼 (RAG)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291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965960"/>
            <a:ext cx="3520440" cy="5669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9933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2677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Spring Boot 3.2
:8080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532888"/>
            <a:ext cx="35204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6060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REST API 8개 + /api/ai/chat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0358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AiChatService (SQL↔RAG 분류)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655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SQL 가드레일 6종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8953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rag-service :8081 (RAG 확장)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8" y="3291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1965960"/>
            <a:ext cx="3520440" cy="5669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9933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2677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PostgreSQL 16
:5432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2532888"/>
            <a:ext cx="35204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6060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5개 테이블 + 문서 2종(RAG)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0358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pgvector 확장 (임베딩 검색)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4655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6개 집계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8953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인덱스 14개 + ivfflat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617720"/>
            <a:ext cx="740664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66344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Anthropic Claude API  (현재)
claude-sonnet-4-6  |  Text-to-SQL + 한국어 요약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4617720"/>
            <a:ext cx="4050791" cy="685800"/>
          </a:xfrm>
          <a:prstGeom prst="rect">
            <a:avLst/>
          </a:prstGeom>
          <a:solidFill>
            <a:srgbClr val="33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46634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로컬 LLM 전환 가능
vLLM + Qwen2.5-14B
(외부망 차단 완전 내부 운영)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800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77777"/>
                </a:solidFill>
              </a:rPr>
              <a:t>↔ 전환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5120640"/>
            <a:ext cx="493776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5184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94560"/>
                </a:solidFill>
              </a:rPr>
              <a:t>▲  app.yml 1줄 변경만으로 전환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577840"/>
            <a:ext cx="11640312" cy="65836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696712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CCDD"/>
                </a:solidFill>
              </a:rPr>
              <a:t>기존 운영 시스템 연동  |  MES (생산 Lot·수율)  |  ERP·SAP SD (수주·매출)  |  LIMS (불량 검사)  |  Option A/B/C 선택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기존 시스템 연동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Integration Strategy with Existing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3611880" cy="5943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20700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직접 연결
(Read-Only)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64792"/>
            <a:ext cx="361188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84708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기존 MES/ERP DB에 Read-Only 계정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48716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Spring Boot → 기존 DB 직접 쿼리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12724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View로 스키마 정규화 레이어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767327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9348"/>
                </a:solidFill>
              </a:rPr>
              <a:t>✅ 실시간 데이터  ✅ 구현 단순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40740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560"/>
                </a:solidFill>
              </a:rPr>
              <a:t>⚠️ 기존 DB 부하 증가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504748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3460"/>
                </a:solidFill>
              </a:rPr>
              <a:t>→ 권장: 읽기 트래픽 낮은 환경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170432"/>
            <a:ext cx="3611880" cy="594360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Option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20700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ETL 배치
(권장)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1764792"/>
            <a:ext cx="361188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1" y="184708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별도 foundry_db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1" y="248716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배치 스케줄러가 주기적으로 적재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1" y="312724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증분 ETL (updated_at 기준)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1" y="3767327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9348"/>
                </a:solidFill>
              </a:rPr>
              <a:t>✅ 기존 DB 무부하  ✅ 독립 운영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1" y="440740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560"/>
                </a:solidFill>
              </a:rPr>
              <a:t>⚠️ 데이터 최신성: 배치 주기 의존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1" y="504748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3460"/>
                </a:solidFill>
              </a:rPr>
              <a:t>→ 권장: 초기 도입 표준 방식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1170432"/>
            <a:ext cx="3611880" cy="59436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Option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120700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CDC 실시간
(고급)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1764792"/>
            <a:ext cx="361188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184708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Debezium → Kafka → foundry_db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248716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DB 변경 즉시 스트리밍 동기화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312724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9348"/>
                </a:solidFill>
              </a:rPr>
              <a:t>✅ 완전 실시간  ✅ 원본 DB 무부하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3767327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560"/>
                </a:solidFill>
              </a:rPr>
              <a:t>⚠️ 구축 비용 높음 (Kafka 필요)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40740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94560"/>
                </a:solidFill>
              </a:rPr>
              <a:t>⚠️ 운영 복잡도 증가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504748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3460"/>
                </a:solidFill>
              </a:rPr>
              <a:t>→ 권장: 대규모 / 실시간 필수 환경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035040"/>
            <a:ext cx="11548872" cy="5669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126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전환 로드맵:  초기 도입 → Option B (ETL 배치)  →  안정화 후 Option A 또는 C 전환  |  코드 변경 없이 application.yml 수정만으로 DB 소스 교체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361188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070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73352"/>
            <a:ext cx="3611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Vue 3.4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Composition API, 반응형 상태관리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42616"/>
            <a:ext cx="3611880" cy="914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Vite 5.2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540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빠른 HMR, SPA 빌드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11880"/>
            <a:ext cx="3611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Chart.js 4.4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Line / Bar / Doughnut 차트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581144"/>
            <a:ext cx="3611880" cy="914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268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vue-chartjs 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9262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Vue 3 래퍼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550408"/>
            <a:ext cx="3611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96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Axios 1.6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61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HTTP 클라이언트, 프록시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1170432"/>
            <a:ext cx="361188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12070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1673352"/>
            <a:ext cx="3611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Spring Boot 3.2.5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0848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엔터프라이즈 REST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2642616"/>
            <a:ext cx="3611880" cy="914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26883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JdbcTemplate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0540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경량 DB 접근, SQL 직접 제어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3611880"/>
            <a:ext cx="3611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6576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HikariCP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023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고성능 커넥션 풀 (기본 포함)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4581144"/>
            <a:ext cx="3611880" cy="914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46268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OpenJDK 21 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99262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최신 LTS, 가상 스레드 지원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59" y="5550408"/>
            <a:ext cx="3611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5596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Maven 3.9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961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표준 Java 빌드 도구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1170432"/>
            <a:ext cx="361188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3607" y="120700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Data &amp; 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79" y="1673352"/>
            <a:ext cx="3611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17190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PostgreSQL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0848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RDBMS, 파티셔닝, FDW 지원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2642616"/>
            <a:ext cx="3611880" cy="914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26883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Anthropic SDK 2.34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0540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claude-sonnet-4-6 연동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3611880"/>
            <a:ext cx="3611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36576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Regex 가드레일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023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DDL/DML/위험명령 6종 차단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79" y="4581144"/>
            <a:ext cx="3611880" cy="914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46268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Nginx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99262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리버스 프록시, 정적 서빙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79" y="5550408"/>
            <a:ext cx="3611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5596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systemd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5961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</a:rPr>
              <a:t>운영 서비스 관리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PostgreSQL 스키마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Database Schema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2103120" cy="43891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25296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9344"/>
            <a:ext cx="210312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6420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id, code (UNIQUE)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02996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name, short_name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39572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country, country_code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76148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tier  PLATINUM~BRONZE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12724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credit_limit, is_active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1170432"/>
            <a:ext cx="210312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1225296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609344"/>
            <a:ext cx="210312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4328" y="166420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id, code (UNIQUE)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328" y="202996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name,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4328" y="239572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technology_node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276148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wafer_size  150/200/300mm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12724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unit_price, cycle_time_days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170432"/>
            <a:ext cx="210312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1225296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sales_orders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609344"/>
            <a:ext cx="210312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166420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id, order_number (UNIQUE)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202996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customer_id FK / product_id 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239572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quantity, unit_price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276148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total_amount (자동계산)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3127248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status 9종 / priority 1~5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749039"/>
            <a:ext cx="2103120" cy="438912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803903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production_lots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187952"/>
            <a:ext cx="210312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24281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id, lot_number (UNIQUE)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60857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order_id FK / product_id FK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97433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quantity, start_date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534009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status 6종 / yield_rate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70585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fab_line, current_step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3749039"/>
            <a:ext cx="2103120" cy="438912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8112" y="3803903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defect_records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4187952"/>
            <a:ext cx="2103120" cy="1938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04688" y="424281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id, lot_id FK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04688" y="460857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defect_type, defect_code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97433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process_step, equipment_id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04688" y="534009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count, density, severity 4종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5705856"/>
            <a:ext cx="1920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root_cause, is_recurring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1170432"/>
            <a:ext cx="39319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55279" y="1170432"/>
            <a:ext cx="3931920" cy="43891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65008" y="1188720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테이블 관계 (FK)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1700784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customers  1:N  sales_orders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2231136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products   1:N  sales_orders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761488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products   1:N  production_lots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3291839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production_lots  1:N  defect_records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3822191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sales_orders  1:1  production_lots (order_id)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4297680"/>
            <a:ext cx="3931920" cy="19476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2440" y="4343400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View (집계 레이어)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7365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B83"/>
                </a:solidFill>
              </a:rPr>
              <a:t>◆  v_kpi_summary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5120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B83"/>
                </a:solidFill>
              </a:rPr>
              <a:t>◆  v_revenue_monthly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55046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B83"/>
                </a:solidFill>
              </a:rPr>
              <a:t>◆  v_revenue_by_customer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58887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B83"/>
                </a:solidFill>
              </a:rPr>
              <a:t>◆  v_yield_by_product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6272783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B83"/>
                </a:solidFill>
              </a:rPr>
              <a:t>◆  v_active_lots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665683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B83"/>
                </a:solidFill>
              </a:rPr>
              <a:t>◆  v_defect_summary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6291072"/>
            <a:ext cx="11640312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total_amount 자동계산 컬럼 (GENERATED ALWAYS AS STORED)  |  updated_at 자동갱신 트리거  |  파티셔닝: 연간 1,000만 건 초과 시 권장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PostgreSQL 설치 및 권한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PostgreSQL Installation &amp;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3749039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3611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OS별 설치 명령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3749039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19072"/>
            <a:ext cx="347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macOS:  brew install postgresql@16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Ubuntu: apt install postgresql-16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RHEL:   dnf install postgresql16-server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Docker: postgres:16-alpine 이미지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초기화  →  postgresql.conf 수정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→  pg_hba.conf 설정  →  서비스 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70432"/>
            <a:ext cx="7708392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70432"/>
            <a:ext cx="7708392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18872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pg_hba.conf — 접속 제어 (IP 화이트리스트)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664208"/>
            <a:ext cx="658368" cy="3474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682496"/>
            <a:ext cx="612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</a:rPr>
              <a:t>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1768" y="1664208"/>
            <a:ext cx="1298448" cy="3474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8344" y="1682496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</a:rPr>
              <a:t>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1664208"/>
            <a:ext cx="1207008" cy="3474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68249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</a:rPr>
              <a:t>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2088" y="1664208"/>
            <a:ext cx="1801368" cy="3474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8663" y="1682496"/>
            <a:ext cx="1755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</a:rPr>
              <a:t>ADDRESS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90888" y="1664208"/>
            <a:ext cx="1527048" cy="3474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7463" y="168249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</a:rPr>
              <a:t>METHOD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2057400"/>
            <a:ext cx="65836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2103120"/>
            <a:ext cx="612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local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1768" y="2057400"/>
            <a:ext cx="129844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8344" y="2103120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2057400"/>
            <a:ext cx="120700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2103120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postgres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62088" y="2057400"/>
            <a:ext cx="180136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98663" y="2103120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90888" y="2057400"/>
            <a:ext cx="152704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7463" y="2103120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460"/>
                </a:solidFill>
              </a:rPr>
              <a:t>peer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2496312"/>
            <a:ext cx="65836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4" y="2542032"/>
            <a:ext cx="612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1768" y="2496312"/>
            <a:ext cx="129844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38344" y="2542032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foundry_db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2496312"/>
            <a:ext cx="120700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4" y="2542032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foundry_app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62088" y="2496312"/>
            <a:ext cx="180136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98663" y="2542032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192.168.1.100/32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90888" y="2496312"/>
            <a:ext cx="152704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7463" y="2542032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9348"/>
                </a:solidFill>
              </a:rPr>
              <a:t>scram-sha-256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2935224"/>
            <a:ext cx="65836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52544" y="2980944"/>
            <a:ext cx="612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1768" y="2935224"/>
            <a:ext cx="129844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38344" y="2980944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foundry_db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648" y="2935224"/>
            <a:ext cx="120700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2980944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foundry_etl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62088" y="2935224"/>
            <a:ext cx="180136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98663" y="2980944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192.168.1.200/32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90888" y="2935224"/>
            <a:ext cx="152704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27463" y="2980944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9348"/>
                </a:solidFill>
              </a:rPr>
              <a:t>scram-sha-256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15968" y="3374136"/>
            <a:ext cx="65836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52544" y="3419856"/>
            <a:ext cx="612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host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1768" y="3374136"/>
            <a:ext cx="129844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38344" y="3419856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foundry_db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7648" y="3374136"/>
            <a:ext cx="120700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3419856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foundry_ro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62088" y="3374136"/>
            <a:ext cx="180136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98663" y="3419856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192.168.10.0/24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374136"/>
            <a:ext cx="1527048" cy="402336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27463" y="3419856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9348"/>
                </a:solidFill>
              </a:rPr>
              <a:t>scram-sha-256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15968" y="3813048"/>
            <a:ext cx="65836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52544" y="3858768"/>
            <a:ext cx="612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host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01768" y="3813048"/>
            <a:ext cx="129844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38344" y="3858768"/>
            <a:ext cx="1252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all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27648" y="3813048"/>
            <a:ext cx="120700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64224" y="3858768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62088" y="3813048"/>
            <a:ext cx="180136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98663" y="3858768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0.0.0.0/0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90888" y="3813048"/>
            <a:ext cx="1527048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27463" y="3858768"/>
            <a:ext cx="14813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reject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4507992"/>
            <a:ext cx="11640312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45445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계정 권한 분리 원칙 (최소 권한 원칙)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074920"/>
            <a:ext cx="2743200" cy="1554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foundry_app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5532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SELECT만
(대시보드 API)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144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DEEFF"/>
                </a:solidFill>
              </a:rPr>
              <a:t>max 20 connection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0" y="5074920"/>
            <a:ext cx="2743200" cy="155448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9184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foundry_ro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91840" y="5532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SELECT만
(BI / 분석용)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91840" y="6144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DEEFF"/>
                </a:solidFill>
              </a:rPr>
              <a:t>max 10 connection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5074920"/>
            <a:ext cx="2743200" cy="1554480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1792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foundry_etl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7920" y="5532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SELECT
INSERT UPDATE DELETE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7920" y="6144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DEEFF"/>
                </a:solidFill>
              </a:rPr>
              <a:t>max 5 connection
(ETL 배치)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52560" y="5074920"/>
            <a:ext cx="2743200" cy="1554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5532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슈퍼유저
(DBA 전용)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0" y="6144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DEEFF"/>
                </a:solidFill>
              </a:rPr>
              <a:t>앱 미사용
로컬 소켓만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AI 파이프라인 &amp; SQL 보안 가드레일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AI Pipeline &amp; Security Guardrail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691640" cy="1463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16152"/>
            <a:ext cx="15727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①
사용자 질문
(자연어)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77777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170432"/>
            <a:ext cx="1691640" cy="1463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6856" y="1216152"/>
            <a:ext cx="15727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②
Claude API
SQL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77777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1376" y="1170432"/>
            <a:ext cx="1691640" cy="146304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1216152"/>
            <a:ext cx="15727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③
가드레일
6종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77777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170432"/>
            <a:ext cx="1691640" cy="14630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216152"/>
            <a:ext cx="15727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④
LIMIT 100
자동 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2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77777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1170432"/>
            <a:ext cx="169164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216152"/>
            <a:ext cx="15727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⑤
PostgreSQL
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169164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77777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1170432"/>
            <a:ext cx="1691640" cy="1463040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0968" y="1216152"/>
            <a:ext cx="157276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⑥
Claude API
한국어 요약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88920"/>
            <a:ext cx="11640312" cy="438912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8163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가드레일 6종 규칙 상세 (Java Regex 기반)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55848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1129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GR-01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3355848"/>
            <a:ext cx="5074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4198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DDL 차단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70332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CREATE · DROP · ALTER · TRUNCATE · RENAME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355848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51129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GR-02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355848"/>
            <a:ext cx="5074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79" y="34198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DML 차단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370332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INSERT · UPDATE · DELETE · MERGE · UPSERT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224528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7997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GR-03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4224528"/>
            <a:ext cx="5074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2885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위험명령 차단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57200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GRANT · REVOKE · EXECUTE · EXEC · COPY · LOAD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224528"/>
            <a:ext cx="6858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37997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GR-04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4224528"/>
            <a:ext cx="5074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79" y="42885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SELECT 강제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79" y="457200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쿼리가 SELECT로 시작하지 않으면 즉시 거부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093208"/>
            <a:ext cx="685800" cy="685800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24865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5093208"/>
            <a:ext cx="5074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1572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9348"/>
                </a:solidFill>
              </a:rPr>
              <a:t>LIMIT 자동화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4406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없으면 100 자동 추가, 100 초과 시 100으로 교체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093208"/>
            <a:ext cx="6858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24865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GR-06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5093208"/>
            <a:ext cx="50749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79" y="51572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복수문장 차단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79" y="54406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세미콜론(;) 이후 내용 존재 시 즉시 거부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943600"/>
            <a:ext cx="11640312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989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마크다운 코드블록 자동 제거: AI 응답에서 ```sql ... ``` 패턴을 제거 후 검증 적용
모델 선택:  Haiku(빠름/저비용)  →  Sonnet(권장)  →  Opus(고정확도/고비용)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프론트엔드 &amp; REST API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Frontend &amp; REST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475488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Vue 3 컴포넌트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475488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19072"/>
            <a:ext cx="4480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App.vue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  ▸  KPI Cards × 4 (매출/주문/수율/Lot)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  ▸  Line Chart — 월별 매출 추이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  ▸  Bar Chart (수평) — 고객별 매출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  ▸  Bar Chart — 제품별 수율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  ▸  Doughnut — 불량 유형 분포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  ▸  생산 Lot 테이블 (최근 20건)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  ▸  수주 테이블 (최근 20건)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AIChatbox.vue — AI 자연어 채팅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useDashboardAPI.js — Composable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  ▸  Promise.all 병렬 API 호출 (7개)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170432"/>
            <a:ext cx="66294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1170432"/>
            <a:ext cx="6629400" cy="43891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11887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REST API  (Base: /api)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6672" y="1664208"/>
            <a:ext cx="786384" cy="3474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168249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</a:rPr>
              <a:t>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664208"/>
            <a:ext cx="2157984" cy="3474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16824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</a:rPr>
              <a:t>Endpoint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94192" y="1664208"/>
            <a:ext cx="2112264" cy="3474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168249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</a:rPr>
              <a:t>설명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43032" y="1664208"/>
            <a:ext cx="1152144" cy="34747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88752" y="168249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77777"/>
                </a:solidFill>
              </a:rPr>
              <a:t>목표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76672" y="2066543"/>
            <a:ext cx="7863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76672" y="2066543"/>
            <a:ext cx="786384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211226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2066543"/>
            <a:ext cx="21579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21122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/kpis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94192" y="2066543"/>
            <a:ext cx="211226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2" y="211226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KPI 4개 (매출·주문·수율·Lot)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43032" y="2066543"/>
            <a:ext cx="115214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88752" y="21122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9348"/>
                </a:solidFill>
              </a:rPr>
              <a:t>&lt; 100ms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76672" y="2587751"/>
            <a:ext cx="78638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76672" y="2587751"/>
            <a:ext cx="786384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22392" y="26334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2587751"/>
            <a:ext cx="215798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26334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/revenue-by-customer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94192" y="2587751"/>
            <a:ext cx="211226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263347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고객별 매출 집계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43032" y="2587751"/>
            <a:ext cx="115214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88752" y="2633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9348"/>
                </a:solidFill>
              </a:rPr>
              <a:t>&lt; 200ms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76672" y="3108959"/>
            <a:ext cx="7863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76672" y="3108959"/>
            <a:ext cx="786384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22392" y="31546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3108959"/>
            <a:ext cx="21579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5352" y="3154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/revenue-trend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94192" y="3108959"/>
            <a:ext cx="211226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9912" y="31546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월별 매출 추이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43032" y="3108959"/>
            <a:ext cx="115214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88752" y="31546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9348"/>
                </a:solidFill>
              </a:rPr>
              <a:t>&lt; 200ms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76672" y="3630168"/>
            <a:ext cx="78638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76672" y="3630168"/>
            <a:ext cx="786384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22392" y="3675887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9632" y="3630168"/>
            <a:ext cx="215798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5352" y="367588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/yield-by-product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94192" y="3630168"/>
            <a:ext cx="211226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9912" y="3675887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제품별 평균 수율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43032" y="3630168"/>
            <a:ext cx="115214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88752" y="3675887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9348"/>
                </a:solidFill>
              </a:rPr>
              <a:t>&lt; 200ms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76672" y="4151375"/>
            <a:ext cx="7863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376672" y="4151375"/>
            <a:ext cx="786384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22392" y="41970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99632" y="4151375"/>
            <a:ext cx="21579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5352" y="41970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/defects-by-type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94192" y="4151375"/>
            <a:ext cx="211226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9912" y="419709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불량 유형·심각도 집계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43032" y="4151375"/>
            <a:ext cx="115214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88752" y="41970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9348"/>
                </a:solidFill>
              </a:rPr>
              <a:t>&lt; 200ms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76672" y="4672583"/>
            <a:ext cx="78638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376672" y="4672583"/>
            <a:ext cx="786384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22392" y="471830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99632" y="4672583"/>
            <a:ext cx="215798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45352" y="47183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/production-lots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94192" y="4672583"/>
            <a:ext cx="211226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39912" y="471830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최근 생산 Lot 20건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43032" y="4672583"/>
            <a:ext cx="115214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88752" y="47183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9348"/>
                </a:solidFill>
              </a:rPr>
              <a:t>&lt; 150ms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76672" y="5193792"/>
            <a:ext cx="7863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376672" y="5193792"/>
            <a:ext cx="786384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22392" y="523951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99632" y="5193792"/>
            <a:ext cx="215798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45352" y="52395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/orders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94192" y="5193792"/>
            <a:ext cx="211226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39912" y="52395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최근 수주 20건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43032" y="5193792"/>
            <a:ext cx="1152144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88752" y="52395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9348"/>
                </a:solidFill>
              </a:rPr>
              <a:t>&lt; 150ms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76672" y="5715000"/>
            <a:ext cx="78638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376672" y="5715000"/>
            <a:ext cx="786384" cy="4754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22392" y="57607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99632" y="5715000"/>
            <a:ext cx="215798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45352" y="5760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/chat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394192" y="5715000"/>
            <a:ext cx="211226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39912" y="57607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AI 자연어 질의 → 요약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43032" y="5715000"/>
            <a:ext cx="1152144" cy="4754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88752" y="5760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9348"/>
                </a:solidFill>
              </a:rPr>
              <a:t>3~10s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09  보안 가이드라인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Security Guidelines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2743200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DB 계정
권한 분리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56231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3852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foundry_app:  SELECT만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8716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foundry_ro:   SELECT만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03580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foundry_etl:  DML 허용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5844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postgres:     로컬 소켓만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133087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pg_hba.conf IP 화이트리스트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170432"/>
            <a:ext cx="274320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네트워크
방화벽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856231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93852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PostgreSQL :5432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48716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→ 백엔드 IP만 허용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03580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API :8080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5844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→ Nginx IP만 허용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133087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외부 직접 접근 차단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170432"/>
            <a:ext cx="27432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API Key
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856231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93852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.env 파일 (.gitignore)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48716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운영: 환경변수 주입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03580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systemd EnvironmentFile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5844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Vault/Secrets Manager 권장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133087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코드에 하드코딩 절대 금지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1170432"/>
            <a:ext cx="2743200" cy="685800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SQL
인젝션 방지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1856231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193852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파라미터화 쿼리 사용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48716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JdbcTemplate ?  바인딩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03580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AI 생성 SQL 가드레일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5844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사용자 입력 직접 조합 금지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33087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LIMIT 100 강제 적용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029200"/>
            <a:ext cx="11640312" cy="43891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566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환경별 설정 분리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57784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3"/>
                </a:solidFill>
              </a:rPr>
              <a:t>개발 (dev)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9893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localhost DB
SQL 로그 전체 출력
pool-size: 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557784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59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3"/>
                </a:solidFill>
              </a:rPr>
              <a:t>스테이징 (stg)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59" y="59893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내부망 DB
INFO 로그
pool-size: 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557784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3"/>
                </a:solidFill>
              </a:rPr>
              <a:t>운영 (prod)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59893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운영 DB (환경변수)
WARN 로그 + 파일 저장
pool-size: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10  배포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Deployment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5440680" cy="4572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Nginx 설정 요점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544068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19072"/>
            <a:ext cx="5166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/  →  Vue 3 dist/ 정적 파일 서빙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try_files $uri /index.html  (SPA fallback)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/api/  →  proxy_pass :8080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/api/chat  →  proxy_read_timeout 120s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SSL/TLS:  TLSv1.2 + TLSv1.3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HTTP → HTTPS 리디렉트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Cache-Control: public, 1h (정적파일)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70432"/>
            <a:ext cx="58978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59" y="12344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systemd 서비스 설정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627632"/>
            <a:ext cx="589788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719072"/>
            <a:ext cx="5623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User=foundry  (전용 OS 계정)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WorkingDirectory=/opt/foundry-dashboard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JAVA_OPTS=-Xms512m -Xmx2g -XX:+UseG1GC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SPRING_PROFILES_ACTIVE=prod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DB_HOST / DB_PASSWORD  (환경변수)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ANTHROPIC_API_KEY  (환경변수)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Restart=on-failure  RestartSec=10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/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systemctl enable foundry-dashboard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systemctl start  foundry-dashboard</a:t>
            </a:r>
          </a:p>
          <a:p>
            <a:pPr>
              <a:spcBef>
                <a:spcPts val="1058"/>
              </a:spcBef>
            </a:pPr>
            <a:r>
              <a:rPr sz="1100">
                <a:solidFill>
                  <a:srgbClr val="1A1A2E"/>
                </a:solidFill>
              </a:rPr>
              <a:t>journalctl -u foundry-dashboard -f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00800"/>
            <a:ext cx="11640312" cy="2926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37376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배포 순서:  ① DB 마이그레이션  →  ② JAR 빌드 (mvn package)  →  ③ systemd 재시작  →  ④ npm run build  →  ⑤ Nginx reload  →  ⑥ Health 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11  주요 KPI 및 성과 (데모 데이터 기준)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Key Performance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2743200" cy="1371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$22.4M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총 매출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70432"/>
            <a:ext cx="2743200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26187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11건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활성 주문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70432"/>
            <a:ext cx="2743200" cy="1371600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6187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96.39%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평균 수율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170432"/>
            <a:ext cx="274320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26187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진행 중 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97480"/>
            <a:ext cx="5577840" cy="457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761488"/>
            <a:ext cx="5440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고객별 매출 Top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54680"/>
            <a:ext cx="55778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2461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1위  TSMC (PLATINUM)            $7,360,000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2위  Samsung (PLATINUM)         $6,280,000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3위  Qualcomm (GOLD)            $3,304,000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4위  MediaTek (SILVER)          $2,552,000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5위  Intel Foundry (GOLD)       $1,155,000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697480"/>
            <a:ext cx="5852160" cy="457200"/>
          </a:xfrm>
          <a:prstGeom prst="rect">
            <a:avLst/>
          </a:prstGeom>
          <a:solidFill>
            <a:srgbClr val="2B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2761488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제품별 수율 Top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154680"/>
            <a:ext cx="5852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1" y="3246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1위  Power IC 180nm             99.1 %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2위  Logic 12nm                 98.0 %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3위  DRAM 1z                    — (진행중)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4위  Logic 7nm                  96.6 %</a:t>
            </a:r>
          </a:p>
          <a:p>
            <a:pPr>
              <a:spcBef>
                <a:spcPts val="1058"/>
              </a:spcBef>
            </a:pPr>
            <a:r>
              <a:rPr sz="1200">
                <a:solidFill>
                  <a:srgbClr val="1A1A2E"/>
                </a:solidFill>
              </a:rPr>
              <a:t>5위  Logic 5nm                  95.5 %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13  RAG 문서 검색 확장 (신규)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Document RAG Extension — 2026-07-19 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40312" cy="566928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사내 문서(규정·매뉴얼)를 업로드하면, 챗봇이 SQL 질문과 문서 질문을 자동으로 구분해 같은 창구에서 답변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3520440" cy="5669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476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Vue 3
:5173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87168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📎 문서 업로드 버튼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9008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답변 출처·신뢰도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198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문서 관리 화면 (목록/삭제)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96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vue-router 없이 화면 토글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920240"/>
            <a:ext cx="3520440" cy="56692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9476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2219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Spring Boot
:8080 (기존)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487168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560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질문 자동 분류 (SQL/문서)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99008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문서 API 프록시(중계)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198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근거 기반 답변 생성(Claude)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8496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기존 NL2SQL 변경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8" y="32004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77777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1920240"/>
            <a:ext cx="352044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9476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rag-service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2219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Spring Boot
:8081 (신규)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2487168"/>
            <a:ext cx="35204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560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Tika 파싱 (PDF/DOCX/TXT)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99008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청킹: 800자, 10% overlap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4198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임베딩 (OpenAI/해싱 폴백)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8496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pgvector 코사인 검색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26280"/>
            <a:ext cx="11640312" cy="41148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5537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신규 API 4종  (모두 backend /api 경유, rag-service는 외부 미노출)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029200"/>
            <a:ext cx="246888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06577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 /api/ai/chat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5029200"/>
            <a:ext cx="3108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5065776"/>
            <a:ext cx="3108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 /api/documents/upload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029200"/>
            <a:ext cx="233172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065776"/>
            <a:ext cx="2331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 /api/documents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5029200"/>
            <a:ext cx="260604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5065776"/>
            <a:ext cx="2606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DELETE /api/documents/{id}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623560"/>
            <a:ext cx="11640312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87568"/>
            <a:ext cx="11247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</a:rPr>
              <a:t>왜 별도 모듈(rag-service)인가:  검색(Retrieval)과 생성(Generation)의 책임을 분리 — rag-service는 검색만, backend는 기존처럼 Claude 호출/가드레일 전담
왜 안전한가:  루트 pom.xml은 두 모듈을 묶기만 할 뿐 backend/pom.xml은 그대로 — 기존 Docker/Railway 배포 파이프라인 무변경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14  향후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6751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2743200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0단계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92224"/>
            <a:ext cx="2743200" cy="43891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288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RAG 문서 검색 (신규)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31136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304288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rag-service 모듈 + pgvector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962656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로컬 통합 검증 완료(07-19)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621024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→ 운영(Railway) 반영은 다음 단계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70432"/>
            <a:ext cx="2743200" cy="62179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234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2주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792224"/>
            <a:ext cx="2743200" cy="43891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18288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인증 &amp; 권한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231136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304288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JWT 기반 로그인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962656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역할별 화면 접근 제어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621024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감사 로그 기록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170432"/>
            <a:ext cx="2743200" cy="62179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234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4주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792224"/>
            <a:ext cx="2743200" cy="438912"/>
          </a:xfrm>
          <a:prstGeom prst="rect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18288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460"/>
                </a:solidFill>
              </a:rPr>
              <a:t>로컬 LLM 전환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231136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304288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vLLM + Qwen2.5-14B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962656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내부 GPU 서버 구축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621024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외부망 완전 차단 운영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1170432"/>
            <a:ext cx="2743200" cy="6217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3단계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1234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3주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1792224"/>
            <a:ext cx="2743200" cy="43891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62288" y="18288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실시간 MES 연동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2231136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2304288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CDC (Debezium+Kafka)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2962656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WebSocket 실시간 차트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621024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수율 알림 경보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663440"/>
            <a:ext cx="11640312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핵심: 로컬 LLM 전환 (2단계)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10235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현재 Claude API  →  내부 GPU 서버 + Qwen2.5-14B (또는 Llama 3.3-70B)
데이터가 외부로 전송되지 않아 사내 보안 정책 완전 준수  |  파운드리 공정 데이터 완전 내부 보관
코드 변경 최소화:  application.yml URL·모델명 변경 + local-llm.enabled=true 로 전환 완료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0AACC"/>
                </a:solidFill>
              </a:rPr>
              <a:t>Q &amp; 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246120"/>
            <a:ext cx="4873752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http://localhost:5173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490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API 서버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http://localhost:8080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2919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./start.sh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091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19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docs/specification_enterprise.md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760720"/>
            <a:ext cx="8531352" cy="82296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5870448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산출물:  specification.md  |  specification_enterprise.md  |  postgresql_setup_guide.md  |  presentation.pptx  |  foundry-ai-proposal.pdf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
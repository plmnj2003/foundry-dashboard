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반도체 파운드리 운영 대시보드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90AACC"/>
                </a:solidFill>
              </a:rPr>
              <a:t>Semiconductor Foundry Operations 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3154680"/>
            <a:ext cx="4507992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DEE"/>
                </a:solidFill>
              </a:rPr>
              <a:t>AI 기반 생산·품질·매출 통합 분석 플랫폼  |  기존 시스템 연동 실운영 가이드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1613916" y="4069080"/>
            <a:ext cx="11887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3916" y="410565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Vue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9796" y="4069080"/>
            <a:ext cx="173736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9796" y="410565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 Boot 3.2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14316" y="4069080"/>
            <a:ext cx="173736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4316" y="410565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PostgreSQL 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88836" y="4069080"/>
            <a:ext cx="22860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8836" y="41056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Anthropic Claude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1996" y="4069080"/>
            <a:ext cx="146304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996" y="410565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Java 21 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35040"/>
            <a:ext cx="107259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78899"/>
                </a:solidFill>
              </a:rPr>
              <a:t>2026년 7월  |  개발팀  |  Ver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594360" cy="65836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1188720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3441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프로젝트 배경 및 목표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84832"/>
            <a:ext cx="594360" cy="65836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76272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84832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2402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시스템 아키텍처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80944"/>
            <a:ext cx="594360" cy="658368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072384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2980944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13639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기존 시스템 연동 전략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77056"/>
            <a:ext cx="59436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968496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3877056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03250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기술 스택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773168"/>
            <a:ext cx="594360" cy="658368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864607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773168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9286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PostgreSQL 스키마 설계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669280"/>
            <a:ext cx="594360" cy="658368"/>
          </a:xfrm>
          <a:prstGeom prst="rect">
            <a:avLst/>
          </a:prstGeom>
          <a:solidFill>
            <a:srgbClr val="1B6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760720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5669280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582472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PostgreSQL 설치 및 권한 설정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188720"/>
            <a:ext cx="594360" cy="658368"/>
          </a:xfrm>
          <a:prstGeom prst="rect">
            <a:avLst/>
          </a:prstGeom>
          <a:solidFill>
            <a:srgbClr val="53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1280160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1188720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441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AI 파이프라인 &amp; 보안 가드레일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084832"/>
            <a:ext cx="594360" cy="65836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2176272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9440" y="2084832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2402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프론트엔드 &amp; REST API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2980944"/>
            <a:ext cx="594360" cy="65836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072384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2980944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313639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보안 가이드라인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877056"/>
            <a:ext cx="594360" cy="658368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3968496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9440" y="3877056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403250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배포 가이드 (Nginx / systemd)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4773168"/>
            <a:ext cx="59436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864607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9440" y="4773168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86600" y="492861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주요 KPI 및 성과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5669280"/>
            <a:ext cx="594360" cy="658368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5760720"/>
            <a:ext cx="594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5669280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582472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향후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01  프로젝트 배경 및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Background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544068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현재 문제점 (Pain Points)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27632"/>
            <a:ext cx="54406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719072"/>
            <a:ext cx="5166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▪  생산·품질·매출 데이터가 MES/ERP/LIMS에 분산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▪  데이터 조회 시 SQL 전문가 개입 필요 → 의사결정 지연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▪  실시간 수율·불량 현황 즉시 파악 불가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▪  임원 리포트를 수동으로 취합 → 주 1회 업데이트 한계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▪  비개발자는 데이터 직접 분석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170432"/>
            <a:ext cx="5897880" cy="45720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1234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기대 효과 (Expected Outcomes)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627632"/>
            <a:ext cx="58978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719072"/>
            <a:ext cx="5623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✓  단일 대시보드에서 KPI 실시간 조회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✓  AI 자연어 질의 → 누구나 데이터 분석 가능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✓  SQL 가드레일 → DB 보안 유지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✓  수율/불량 시각화 → 품질 이슈 즉시 감지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✓  기존 MES/ERP 연동 → 별도 데이터 입력 불필요</a:t>
            </a:r>
          </a:p>
          <a:p>
            <a:pPr>
              <a:spcBef>
                <a:spcPts val="1058"/>
              </a:spcBef>
            </a:pPr>
            <a:r>
              <a:rPr sz="1300">
                <a:solidFill>
                  <a:srgbClr val="1A1A2E"/>
                </a:solidFill>
              </a:rPr>
              <a:t>✓  향후 로컬 LLM 전환 → 데이터 완전 내부 보관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02  시스템 아키텍처 (실운영 구성)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Production 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40312" cy="658368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Nginx 리버스 프록시  |  /  → Vue 정적 파일  |  /api/*  → Spring Boot :8080  |  SSL/TLS 종단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3520440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9339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6771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Vue 3 SPA
(Nginx 정적 서빙)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32888"/>
            <a:ext cx="35204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060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KPI Cards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Chart.js 차트 ×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6557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Lot / 주문 테이블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953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AI 채팅 박스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3048" y="32918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965960"/>
            <a:ext cx="3520440" cy="56692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99339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6771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Spring Boot 3.2
:8080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532888"/>
            <a:ext cx="35204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26060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REST API 8개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03580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AiChatService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6557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SQL 가드레일 6종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8953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HikariCP 커넥션 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32918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1965960"/>
            <a:ext cx="3520440" cy="5669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199339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26771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PostgreSQL 16
:5432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2532888"/>
            <a:ext cx="352044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606040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5개 테이블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03580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6개 집계 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46557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인덱스 14개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8953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자동 updated_at 트리거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617720"/>
            <a:ext cx="7406640" cy="685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6344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Anthropic Claude API  (현재)
claude-sonnet-4-6  |  Text-to-SQL + 한국어 요약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4617720"/>
            <a:ext cx="4050791" cy="685800"/>
          </a:xfrm>
          <a:prstGeom prst="rect">
            <a:avLst/>
          </a:prstGeom>
          <a:solidFill>
            <a:srgbClr val="335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79" y="466344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로컬 LLM 전환 가능
vLLM + Qwen2.5-14B
(외부망 차단 완전 내부 운영)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48006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77777"/>
                </a:solidFill>
              </a:rPr>
              <a:t>↔ 전환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63240" y="5120640"/>
            <a:ext cx="493776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5184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94560"/>
                </a:solidFill>
              </a:rPr>
              <a:t>▲  app.yml 1줄 변경만으로 전환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577840"/>
            <a:ext cx="11640312" cy="658368"/>
          </a:xfrm>
          <a:prstGeom prst="rect">
            <a:avLst/>
          </a:prstGeom>
          <a:solidFill>
            <a:srgbClr val="22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696712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CCDD"/>
                </a:solidFill>
              </a:rPr>
              <a:t>기존 운영 시스템 연동  |  MES (생산 Lot·수율)  |  ERP·SAP SD (수주·매출)  |  LIMS (불량 검사)  |  Option A/B/C 선택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03  기존 시스템 연동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Integration Strategy with Existing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3611880" cy="5943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Option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20700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직접 연결
(Read-Only)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64792"/>
            <a:ext cx="361188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18470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기존 MES/ERP DB에 Read-Only 계정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48716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Spring Boot → 기존 DB 직접 쿼리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12724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View로 스키마 정규화 레이어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767327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9348"/>
                </a:solidFill>
              </a:rPr>
              <a:t>✅ 실시간 데이터  ✅ 구현 단순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40740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94560"/>
                </a:solidFill>
              </a:rPr>
              <a:t>⚠️ 기존 DB 부하 증가 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50474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3460"/>
                </a:solidFill>
              </a:rPr>
              <a:t>→ 권장: 읽기 트래픽 낮은 환경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1170432"/>
            <a:ext cx="3611880" cy="59436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Option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20700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ETL 배치
(권장)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764792"/>
            <a:ext cx="361188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1" y="18470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별도 foundry_db 구성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1" y="248716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배치 스케줄러가 주기적으로 적재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1" y="312724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증분 ETL (updated_at 기준)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3767327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9348"/>
                </a:solidFill>
              </a:rPr>
              <a:t>✅ 기존 DB 무부하  ✅ 독립 운영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440740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94560"/>
                </a:solidFill>
              </a:rPr>
              <a:t>⚠️ 데이터 최신성: 배치 주기 의존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50474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3460"/>
                </a:solidFill>
              </a:rPr>
              <a:t>→ 권장: 초기 도입 표준 방식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1170432"/>
            <a:ext cx="3611880" cy="594360"/>
          </a:xfrm>
          <a:prstGeom prst="rect">
            <a:avLst/>
          </a:prstGeom>
          <a:solidFill>
            <a:srgbClr val="53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Option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19" y="120700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CDC 실시간
(고급)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1764792"/>
            <a:ext cx="361188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18470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Debezium → Kafka → foundry_db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8471" y="248716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DB 변경 즉시 스트리밍 동기화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312724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9348"/>
                </a:solidFill>
              </a:rPr>
              <a:t>✅ 완전 실시간  ✅ 원본 DB 무부하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767327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94560"/>
                </a:solidFill>
              </a:rPr>
              <a:t>⚠️ 구축 비용 높음 (Kafka 필요)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0740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94560"/>
                </a:solidFill>
              </a:rPr>
              <a:t>⚠️ 운영 복잡도 증가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1" y="50474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3460"/>
                </a:solidFill>
              </a:rPr>
              <a:t>→ 권장: 대규모 / 실시간 필수 환경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6035040"/>
            <a:ext cx="11548872" cy="5669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126480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전환 로드맵:  초기 도입 → Option B (ETL 배치)  →  안정화 후 Option A 또는 C 전환  |  코드 변경 없이 application.yml 수정만으로 DB 소스 교체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04 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3611880" cy="502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20700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73352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Vue 3.4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84831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Composition API, 반응형 상태관리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42616"/>
            <a:ext cx="3611880" cy="91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Vite 5.2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5409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빠른 HMR, SPA 빌드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611880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Chart.js 4.4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233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Line / Bar / Doughnut 차트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81144"/>
            <a:ext cx="3611880" cy="91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2686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vue-chartjs 5.3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9262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Vue 3 래퍼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550408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Axios 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61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HTTP 클라이언트, 프록시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1170432"/>
            <a:ext cx="3611880" cy="5029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120700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1673352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171907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Spring Boot 3.2.5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084831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엔터프라이즈 REST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2642616"/>
            <a:ext cx="3611880" cy="91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68833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JdbcTemplate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05409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경량 DB 접근, SQL 직접 제어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3611880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6576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HikariCP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0233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고성능 커넥션 풀 (기본 포함)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59" y="4581144"/>
            <a:ext cx="3611880" cy="91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62686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OpenJDK 21 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99262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최신 LTS, 가상 스레드 지원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59" y="5550408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Maven 3.9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5961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표준 Java 빌드 도구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1170432"/>
            <a:ext cx="361188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93607" y="120700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Data &amp; 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83879" y="1673352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171907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PostgreSQL 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084831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RDBMS, 파티셔닝, FDW 지원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83879" y="2642616"/>
            <a:ext cx="3611880" cy="91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2688336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Anthropic SDK 2.34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05409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claude-sonnet-4-6 연동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83879" y="3611880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365760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Regex 가드레일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40233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DDL/DML/위험명령 6종 차단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83879" y="4581144"/>
            <a:ext cx="3611880" cy="914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62686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Nginx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99262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리버스 프록시, 정적 서빙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83879" y="5550408"/>
            <a:ext cx="36118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5596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systemd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5961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7777"/>
                </a:solidFill>
              </a:rPr>
              <a:t>운영 서비스 관리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05  PostgreSQL 스키마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Database Schema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210312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225296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09344"/>
            <a:ext cx="2103120" cy="1938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66420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id, code (UNIQUE)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02996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name, short_name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39572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country, country_code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76148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tier  PLATINUM~BRONZE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12724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credit_limit, is_active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1170432"/>
            <a:ext cx="2103120" cy="43891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1225296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14600" y="1609344"/>
            <a:ext cx="2103120" cy="1938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24328" y="166420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id, code (UNIQUE)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202996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name, category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4328" y="239572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technology_node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24328" y="276148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wafer_size  150/200/300mm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4328" y="312724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unit_price, cycle_time_days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170432"/>
            <a:ext cx="2103120" cy="43891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2" y="1225296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sales_orders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1609344"/>
            <a:ext cx="2103120" cy="1938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166420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id, order_number (UNIQUE)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202996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customer_id FK / product_id FK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608" y="239572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quantity, unit_price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276148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total_amount (자동계산)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127248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status 9종 / priority 1~5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2103120" cy="438912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3803903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production_lots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187952"/>
            <a:ext cx="2103120" cy="1938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424281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id, lot_number (UNIQUE)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460857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order_id FK / product_id FK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97433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quantity, start_date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534009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status 6종 / yield_rate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70585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fab_line, current_step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3749039"/>
            <a:ext cx="2103120" cy="438912"/>
          </a:xfrm>
          <a:prstGeom prst="rect">
            <a:avLst/>
          </a:prstGeom>
          <a:solidFill>
            <a:srgbClr val="53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68112" y="3803903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defect_records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94960" y="4187952"/>
            <a:ext cx="2103120" cy="19385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04688" y="424281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id, lot_id FK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04688" y="460857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defect_type, defect_code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97433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process_step, equipment_id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04688" y="534009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count, density, severity 4종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04688" y="5705856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root_cause, is_recurring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79" y="1170432"/>
            <a:ext cx="393192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5279" y="1170432"/>
            <a:ext cx="3931920" cy="438912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65008" y="1188720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테이블 관계 (FK)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2440" y="1700784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customers  1:N  sales_orders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2440" y="2231136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products   1:N  sales_orders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2761488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products   1:N  production_lots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3291839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production_lots  1:N  defect_records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92440" y="3822191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sales_orders  1:1  production_lots (order_id)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55279" y="4297680"/>
            <a:ext cx="3931920" cy="19476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92440" y="4343400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View (집계 레이어)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7365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B83"/>
                </a:solidFill>
              </a:rPr>
              <a:t>◆  v_kpi_summary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512064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B83"/>
                </a:solidFill>
              </a:rPr>
              <a:t>◆  v_revenue_monthly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55046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B83"/>
                </a:solidFill>
              </a:rPr>
              <a:t>◆  v_revenue_by_customer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0" y="5888736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B83"/>
                </a:solidFill>
              </a:rPr>
              <a:t>◆  v_yield_by_product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8160" y="6272783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B83"/>
                </a:solidFill>
              </a:rPr>
              <a:t>◆  v_active_lots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6656831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B83"/>
                </a:solidFill>
              </a:rPr>
              <a:t>◆  v_defect_summary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6291072"/>
            <a:ext cx="11640312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6355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total_amount 자동계산 컬럼 (GENERATED ALWAYS AS STORED)  |  updated_at 자동갱신 트리거  |  파티셔닝: 연간 1,000만 건 초과 시 권장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06  PostgreSQL 설치 및 권한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PostgreSQL Installation &amp;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3749039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3611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OS별 설치 명령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3749039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719072"/>
            <a:ext cx="347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macOS:  brew install postgresql@16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Ubuntu: apt install postgresql-16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RHEL:   dnf install postgresql16-server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Docker: postgres:16-alpine 이미지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초기화  →  postgresql.conf 수정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→  pg_hba.conf 설정  →  서비스 시작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70432"/>
            <a:ext cx="7708392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170432"/>
            <a:ext cx="7708392" cy="43891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188720"/>
            <a:ext cx="7498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pg_hba.conf — 접속 제어 (IP 화이트리스트)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1664208"/>
            <a:ext cx="658368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1682496"/>
            <a:ext cx="612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1664208"/>
            <a:ext cx="1298448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8344" y="1682496"/>
            <a:ext cx="1252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DATABASE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664208"/>
            <a:ext cx="1207008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1682496"/>
            <a:ext cx="1161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USER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2088" y="1664208"/>
            <a:ext cx="1801368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98663" y="1682496"/>
            <a:ext cx="1755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ADDRESS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0888" y="1664208"/>
            <a:ext cx="1527048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7463" y="168249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METHOD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2057400"/>
            <a:ext cx="65836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2103120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local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1768" y="2057400"/>
            <a:ext cx="129844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8344" y="2103120"/>
            <a:ext cx="1252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2057400"/>
            <a:ext cx="120700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103120"/>
            <a:ext cx="1161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postgres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62088" y="2057400"/>
            <a:ext cx="180136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98663" y="2103120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-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0888" y="2057400"/>
            <a:ext cx="152704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3" y="2103120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peer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496312"/>
            <a:ext cx="65836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52544" y="2542032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host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1768" y="2496312"/>
            <a:ext cx="129844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8344" y="2542032"/>
            <a:ext cx="1252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foundry_db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27648" y="2496312"/>
            <a:ext cx="120700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2542032"/>
            <a:ext cx="1161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foundry_app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62088" y="2496312"/>
            <a:ext cx="180136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98663" y="2542032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192.168.1.100/32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90888" y="2496312"/>
            <a:ext cx="152704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27463" y="2542032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9348"/>
                </a:solidFill>
              </a:rPr>
              <a:t>scram-sha-256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5968" y="2935224"/>
            <a:ext cx="65836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52544" y="2980944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1768" y="2935224"/>
            <a:ext cx="129844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38344" y="2980944"/>
            <a:ext cx="1252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foundry_db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27648" y="2935224"/>
            <a:ext cx="120700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2980944"/>
            <a:ext cx="1161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foundry_etl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62088" y="2935224"/>
            <a:ext cx="180136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98663" y="2980944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192.168.1.200/32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90888" y="2935224"/>
            <a:ext cx="152704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27463" y="2980944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9348"/>
                </a:solidFill>
              </a:rPr>
              <a:t>scram-sha-256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15968" y="3374136"/>
            <a:ext cx="65836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52544" y="3419856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host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1768" y="3374136"/>
            <a:ext cx="129844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38344" y="3419856"/>
            <a:ext cx="1252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foundry_db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27648" y="3374136"/>
            <a:ext cx="120700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3419856"/>
            <a:ext cx="1161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foundry_ro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562088" y="3374136"/>
            <a:ext cx="180136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98663" y="3419856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192.168.10.0/24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90888" y="3374136"/>
            <a:ext cx="1527048" cy="402336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27463" y="3419856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9348"/>
                </a:solidFill>
              </a:rPr>
              <a:t>scram-sha-256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15968" y="3813048"/>
            <a:ext cx="65836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52544" y="3858768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host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01768" y="3813048"/>
            <a:ext cx="129844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38344" y="3858768"/>
            <a:ext cx="1252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27648" y="3813048"/>
            <a:ext cx="120700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64224" y="3858768"/>
            <a:ext cx="1161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all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562088" y="3813048"/>
            <a:ext cx="180136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98663" y="3858768"/>
            <a:ext cx="1755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0.0.0.0/0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90888" y="3813048"/>
            <a:ext cx="1527048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27463" y="3858768"/>
            <a:ext cx="1481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reject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4507992"/>
            <a:ext cx="11640312" cy="43891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45445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계정 권한 분리 원칙 (최소 권한 원칙)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5074920"/>
            <a:ext cx="2743200" cy="1554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5120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foundry_app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5532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SELECT만
(대시보드 API)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1447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DDEEFF"/>
                </a:solidFill>
              </a:rPr>
              <a:t>max 20 connection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0" y="5074920"/>
            <a:ext cx="2743200" cy="155448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291840" y="5120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foundry_ro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91840" y="5532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SELECT만
(BI / 분석용)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91840" y="61447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DDEEFF"/>
                </a:solidFill>
              </a:rPr>
              <a:t>max 10 connection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5074920"/>
            <a:ext cx="2743200" cy="155448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17920" y="5120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foundry_etl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32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SELECT
INSERT UPDATE DELETE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61447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DDEEFF"/>
                </a:solidFill>
              </a:rPr>
              <a:t>max 5 connection
(ETL 배치)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52560" y="5074920"/>
            <a:ext cx="2743200" cy="15544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0" y="5120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postgres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0" y="553212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슈퍼유저
(DBA 전용)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0" y="61447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DDEEFF"/>
                </a:solidFill>
              </a:rPr>
              <a:t>앱 미사용
로컬 소켓만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07  AI 파이프라인 &amp; SQL 보안 가드레일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AI Pipeline &amp; Security Guardrail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1691640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216152"/>
            <a:ext cx="1572768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①
사용자 질문
(자연어)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4248" y="169164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170432"/>
            <a:ext cx="1691640" cy="14630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6856" y="1216152"/>
            <a:ext cx="1572768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②
Claude API
SQL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2776" y="169164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51376" y="1170432"/>
            <a:ext cx="1691640" cy="1463040"/>
          </a:xfrm>
          <a:prstGeom prst="rect">
            <a:avLst/>
          </a:prstGeom>
          <a:solidFill>
            <a:srgbClr val="53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5384" y="1216152"/>
            <a:ext cx="1572768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③
가드레일
6종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61304" y="169164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1170432"/>
            <a:ext cx="1691640" cy="146304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2" y="1216152"/>
            <a:ext cx="1572768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④
LIMIT 100
자동 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9832" y="169164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2" y="1170432"/>
            <a:ext cx="1691640" cy="14630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1216152"/>
            <a:ext cx="1572768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⑤
PostgreSQL
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1691640"/>
            <a:ext cx="246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77777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1170432"/>
            <a:ext cx="1691640" cy="146304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0968" y="1216152"/>
            <a:ext cx="1572768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⑥
Claude API
한국어 요약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788920"/>
            <a:ext cx="11640312" cy="438912"/>
          </a:xfrm>
          <a:prstGeom prst="rect">
            <a:avLst/>
          </a:prstGeom>
          <a:solidFill>
            <a:srgbClr val="53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81635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가드레일 6종 규칙 상세 (Java Regex 기반)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55848"/>
            <a:ext cx="685800" cy="685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51129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GR-01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355848"/>
            <a:ext cx="5074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41985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4560"/>
                </a:solidFill>
              </a:rPr>
              <a:t>DDL 차단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703320"/>
            <a:ext cx="4800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CREATE · DROP · ALTER · TRUNCATE · RENAME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355848"/>
            <a:ext cx="685800" cy="685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51129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GR-02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355848"/>
            <a:ext cx="5074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79" y="341985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4560"/>
                </a:solidFill>
              </a:rPr>
              <a:t>DML 차단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79" y="3703320"/>
            <a:ext cx="4800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INSERT · UPDATE · DELETE · MERGE · UPSERT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224528"/>
            <a:ext cx="685800" cy="685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37997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4224528"/>
            <a:ext cx="5074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428853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94560"/>
                </a:solidFill>
              </a:rPr>
              <a:t>위험명령 차단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4572000"/>
            <a:ext cx="4800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GRANT · REVOKE · EXECUTE · EXEC · COPY · LOAD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224528"/>
            <a:ext cx="6858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437997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GR-04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224528"/>
            <a:ext cx="5074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79" y="428853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SELECT 강제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79" y="4572000"/>
            <a:ext cx="4800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쿼리가 SELECT로 시작하지 않으면 즉시 거부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093208"/>
            <a:ext cx="685800" cy="68580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524865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GR-05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" y="5093208"/>
            <a:ext cx="5074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7280" y="515721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9348"/>
                </a:solidFill>
              </a:rPr>
              <a:t>LIMIT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440680"/>
            <a:ext cx="4800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없으면 100 자동 추가, 100 초과 시 100으로 교체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5093208"/>
            <a:ext cx="6858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24865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GR-06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5093208"/>
            <a:ext cx="5074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79" y="515721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복수문장 차단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79" y="5440680"/>
            <a:ext cx="4800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세미콜론(;) 이후 내용 존재 시 즉시 거부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943600"/>
            <a:ext cx="11640312" cy="685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59893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마크다운 코드블록 자동 제거: AI 응답에서 ```sql ... ``` 패턴을 제거 후 검증 적용
모델 선택:  Haiku(빠름/저비용)  →  Sonnet(권장)  →  Opus(고정확도/고비용)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08  프론트엔드 &amp; REST API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Frontend &amp; REST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475488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4617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Vue 3 컴포넌트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47548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719072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App.vue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KPI Cards × 4 (매출/주문/수율/Lot)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Line Chart — 월별 매출 추이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Bar Chart (수평) — 고객별 매출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Bar Chart — 제품별 수율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Doughnut — 불량 유형 분포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생산 Lot 테이블 (최근 20건)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수주 테이블 (최근 20건)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AIChatbox.vue — AI 자연어 채팅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useDashboardAPI.js — Composable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  ▸  Promise.all 병렬 API 호출 (7개)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57800" y="1170432"/>
            <a:ext cx="66294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1170432"/>
            <a:ext cx="6629400" cy="43891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1188720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REST API  (Base: /api)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76672" y="1664208"/>
            <a:ext cx="786384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2392" y="168249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Method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664208"/>
            <a:ext cx="2157984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16824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Endpoint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94192" y="1664208"/>
            <a:ext cx="2112264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682496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3032" y="1664208"/>
            <a:ext cx="1152144" cy="34747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8752" y="168249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77777"/>
                </a:solidFill>
              </a:rPr>
              <a:t>목표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76672" y="2066543"/>
            <a:ext cx="7863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76672" y="2066543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22392" y="2112264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2066543"/>
            <a:ext cx="21579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21122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/kpis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94192" y="2066543"/>
            <a:ext cx="2112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211226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KPI 4개 (매출·주문·수율·Lot)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43032" y="2066543"/>
            <a:ext cx="115214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1122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100ms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76672" y="2587751"/>
            <a:ext cx="7863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76672" y="2587751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2392" y="263347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87751"/>
            <a:ext cx="21579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26334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/revenue-by-customer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94192" y="2587751"/>
            <a:ext cx="211226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912" y="263347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고객별 매출 집계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43032" y="2587751"/>
            <a:ext cx="115214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263347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200ms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76672" y="3108959"/>
            <a:ext cx="7863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76672" y="3108959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22392" y="315468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3108959"/>
            <a:ext cx="21579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45352" y="3154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/revenue-trend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94192" y="3108959"/>
            <a:ext cx="2112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39912" y="315468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월별 매출 추이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43032" y="3108959"/>
            <a:ext cx="115214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8752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200ms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76672" y="3630168"/>
            <a:ext cx="7863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76672" y="3630168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22392" y="3675887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99632" y="3630168"/>
            <a:ext cx="21579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5352" y="3675887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/yield-by-product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94192" y="3630168"/>
            <a:ext cx="211226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912" y="3675887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제품별 평균 수율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43032" y="3630168"/>
            <a:ext cx="115214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88752" y="3675887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200ms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76672" y="4151375"/>
            <a:ext cx="7863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76672" y="4151375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22392" y="4197096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99632" y="4151375"/>
            <a:ext cx="21579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45352" y="41970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/defects-by-type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94192" y="4151375"/>
            <a:ext cx="2112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39912" y="4197096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불량 유형·심각도 집계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543032" y="4151375"/>
            <a:ext cx="115214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88752" y="41970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200ms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76672" y="4672583"/>
            <a:ext cx="7863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376672" y="4672583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22392" y="4718304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99632" y="4672583"/>
            <a:ext cx="21579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45352" y="47183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/production-lots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94192" y="4672583"/>
            <a:ext cx="211226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39912" y="4718304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최근 생산 Lot 20건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43032" y="4672583"/>
            <a:ext cx="115214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88752" y="4718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150ms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76672" y="5193792"/>
            <a:ext cx="7863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376672" y="5193792"/>
            <a:ext cx="786384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22392" y="523951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99632" y="5193792"/>
            <a:ext cx="215798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45352" y="52395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/orders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94192" y="5193792"/>
            <a:ext cx="2112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39912" y="5239512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최근 수주 20건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3032" y="5193792"/>
            <a:ext cx="115214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88752" y="523951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&lt; 150ms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76672" y="5715000"/>
            <a:ext cx="7863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376672" y="5715000"/>
            <a:ext cx="786384" cy="47548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22392" y="576072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99632" y="5715000"/>
            <a:ext cx="215798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45352" y="5760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/chat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94192" y="5715000"/>
            <a:ext cx="211226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39912" y="5760720"/>
            <a:ext cx="2057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AI 자연어 질의 → 요약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43032" y="5715000"/>
            <a:ext cx="1152144" cy="4754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88752" y="57607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B9348"/>
                </a:solidFill>
              </a:rPr>
              <a:t>3~10s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09  보안 가이드라인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Security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27432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DB 계정
권한 분리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56231"/>
            <a:ext cx="27432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93852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foundry_app:  SELECT만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48716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foundry_ro:   SELECT만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03580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foundry_etl:  DML 허용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58444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postgres:     로컬 소켓만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4133087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pg_hba.conf IP 화이트리스트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170432"/>
            <a:ext cx="274320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188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네트워크
방화벽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856231"/>
            <a:ext cx="27432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93852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PostgreSQL :5432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48716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→ 백엔드 IP만 허용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03580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API :8080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58444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→ Nginx IP만 허용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133087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외부 직접 접근 차단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170432"/>
            <a:ext cx="2743200" cy="685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188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API Key
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856231"/>
            <a:ext cx="27432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193852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.env 파일 (.gitignore)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48716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운영: 환경변수 주입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03580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systemd EnvironmentFile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58444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Vault/Secrets Manager 권장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133087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코드에 하드코딩 절대 금지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1170432"/>
            <a:ext cx="2743200" cy="68580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1188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SQL
인젝션 방지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2560" y="1856231"/>
            <a:ext cx="27432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193852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파라미터화 쿼리 사용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248716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JdbcTemplate ?  바인딩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03580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AI 생성 SQL 가드레일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3584448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사용자 입력 직접 조합 금지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133087"/>
            <a:ext cx="2514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LIMIT 100 강제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029200"/>
            <a:ext cx="11640312" cy="438912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566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환경별 설정 분리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577840"/>
            <a:ext cx="36576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623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B83"/>
                </a:solidFill>
              </a:rPr>
              <a:t>개발 (dev)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9893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localhost DB
SQL 로그 전체 출력
pool-size: 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5577840"/>
            <a:ext cx="36576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59" y="5623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B83"/>
                </a:solidFill>
              </a:rPr>
              <a:t>스테이징 (stg)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59" y="59893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내부망 DB
INFO 로그
pool-size: 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20" y="5577840"/>
            <a:ext cx="36576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38160" y="5623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B83"/>
                </a:solidFill>
              </a:rPr>
              <a:t>운영 (prod)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59893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운영 DB (환경변수)
WARN 로그 + 파일 저장
pool-size: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10  배포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Deployment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5440680" cy="4572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Nginx 설정 요점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54406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719072"/>
            <a:ext cx="5166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/  →  Vue 3 dist/ 정적 파일 서빙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try_files $uri /index.html  (SPA fallback)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/api/  →  proxy_pass :8080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/api/chat  →  proxy_read_timeout 120s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SSL/TLS:  TLSv1.2 + TLSv1.3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HTTP → HTTPS 리디렉트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Cache-Control: public, 1h (정적파일)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170432"/>
            <a:ext cx="589788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1234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systemd 서비스 설정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627632"/>
            <a:ext cx="589788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719072"/>
            <a:ext cx="5623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User=foundry  (전용 OS 계정)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WorkingDirectory=/opt/foundry-dashboard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JAVA_OPTS=-Xms512m -Xmx2g -XX:+UseG1GC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SPRING_PROFILES_ACTIVE=prod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DB_HOST / DB_PASSWORD  (환경변수)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ANTHROPIC_API_KEY  (환경변수)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Restart=on-failure  RestartSec=10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systemctl enable foundry-dashboard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systemctl start  foundry-dashboard</a:t>
            </a:r>
          </a:p>
          <a:p>
            <a:pPr>
              <a:spcBef>
                <a:spcPts val="1058"/>
              </a:spcBef>
            </a:pPr>
            <a:r>
              <a:rPr sz="1100">
                <a:solidFill>
                  <a:srgbClr val="1A1A2E"/>
                </a:solidFill>
              </a:rPr>
              <a:t>journalctl -u foundry-dashboard -f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6400800"/>
            <a:ext cx="11640312" cy="29260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37376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배포 순서:  ① DB 마이그레이션  →  ② JAR 빌드 (mvn package)  →  ③ systemd 재시작  →  ④ npm run build  →  ⑤ Nginx reload  →  ⑥ Health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11  주요 KPI 및 성과 (데모 데이터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Key Performance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2743200" cy="13716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$22.4M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</a:rPr>
              <a:t>총 매출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70432"/>
            <a:ext cx="2743200" cy="13716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261872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11건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</a:rPr>
              <a:t>활성 주문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70432"/>
            <a:ext cx="2743200" cy="137160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61872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96.39%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</a:rPr>
              <a:t>평균 수율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170432"/>
            <a:ext cx="2743200" cy="13716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261872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6개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DDEE"/>
                </a:solidFill>
              </a:rPr>
              <a:t>진행 중 Lot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97480"/>
            <a:ext cx="557784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761488"/>
            <a:ext cx="5440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고객별 매출 Top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54680"/>
            <a:ext cx="557784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4612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1위  TSMC (PLATINUM)            $7,360,000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2위  Samsung (PLATINUM)         $6,280,000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3위  Qualcomm (GOLD)            $3,304,000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4위  MediaTek (SILVER)          $2,552,000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5위  Intel Foundry (GOLD)       $1,155,000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2697480"/>
            <a:ext cx="5852160" cy="457200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79" y="2761488"/>
            <a:ext cx="5715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제품별 수율 Top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154680"/>
            <a:ext cx="585216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324612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1위  Power IC 180nm             99.1 %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2위  Logic 12nm                 98.0 %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3위  DRAM 1z                    — (진행중)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4위  Logic 7nm                  96.6 %</a:t>
            </a:r>
          </a:p>
          <a:p>
            <a:pPr>
              <a:spcBef>
                <a:spcPts val="1058"/>
              </a:spcBef>
            </a:pPr>
            <a:r>
              <a:rPr sz="1200">
                <a:solidFill>
                  <a:srgbClr val="1A1A2E"/>
                </a:solidFill>
              </a:rPr>
              <a:t>5위  Logic 5nm                  95.5 %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8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12  향후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6751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BBCC"/>
                </a:solidFill>
              </a:rPr>
              <a:t>Future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2743200" cy="62179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2주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92224"/>
            <a:ext cx="2743200" cy="43891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8288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인증 &amp; 권한 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31136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230428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JWT 기반 로그인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96265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역할별 화면 접근 제어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62102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감사 로그 기록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170432"/>
            <a:ext cx="2743200" cy="62179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1188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234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4주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792224"/>
            <a:ext cx="2743200" cy="438912"/>
          </a:xfrm>
          <a:prstGeom prst="rect">
            <a:avLst/>
          </a:prstGeom>
          <a:solidFill>
            <a:srgbClr val="EE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128" y="18288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로컬 LLM 전환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231136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30428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vLLM + Qwen2.5-14B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96265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내부 GPU 서버 구축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62102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외부망 완전 차단 운영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170432"/>
            <a:ext cx="2743200" cy="62179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1188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3단계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1234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3주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792224"/>
            <a:ext cx="2743200" cy="43891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8288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실시간 MES 연동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231136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30428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CDC (Debezium+Kafka)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96265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WebSocket 실시간 차트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62102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수율 알림 경보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1170432"/>
            <a:ext cx="2743200" cy="621792"/>
          </a:xfrm>
          <a:prstGeom prst="rect">
            <a:avLst/>
          </a:prstGeom>
          <a:solidFill>
            <a:srgbClr val="2B9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1188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4단계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12344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2주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1792224"/>
            <a:ext cx="2743200" cy="43891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62288" y="18288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B9348"/>
                </a:solidFill>
              </a:rPr>
              <a:t>알림 &amp; 리포팅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2560" y="2231136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20" y="230428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임계값 경보 (Slack/이메일)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296265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PDF 자동 리포트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362102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▸  구독형 일간 리포트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663440"/>
            <a:ext cx="11640312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핵심: 로컬 LLM 전환 (2단계)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102352"/>
            <a:ext cx="112471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현재 Claude API  →  내부 GPU 서버 + Qwen2.5-14B (또는 Llama 3.3-70B)
데이터가 외부로 전송되지 않아 사내 보안 정책 완전 준수  |  파운드리 공정 데이터 완전 내부 보관
코드 변경 최소화:  application.yml URL·모델명 변경 + local-llm.enabled=true 로 전환 완료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7259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0AACC"/>
                </a:solidFill>
              </a:rPr>
              <a:t>Q &amp; 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246120"/>
            <a:ext cx="4873752" cy="45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</a:rPr>
              <a:t>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690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http://localhost:5173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4903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</a:rPr>
              <a:t>API 서버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http://localhost:8080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70915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</a:rPr>
              <a:t>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02919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./start.sh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70915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99AA"/>
                </a:solidFill>
              </a:rPr>
              <a:t>문서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02919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docs/specification_enterprise.md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760720"/>
            <a:ext cx="8531352" cy="82296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870448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BBCC"/>
                </a:solidFill>
              </a:rPr>
              <a:t>산출물:  specification.md  |  specification_enterprise.md  |  postgresql_setup_guide.md  |  presentation.pptx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